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1B21C72D-0EEA-2D03-A702-22B8B2C49A1C}">
          <p14:sldIdLst>
            <p14:sldId id="256"/>
            <p14:sldId id="257"/>
          </p14:sldIdLst>
        </p14:section>
        <p14:section name="現状分析" id="{59E1D300-E7E2-3063-22BD-D2D186A41F9B}">
          <p14:sldIdLst>
            <p14:sldId id="258"/>
            <p14:sldId id="259"/>
            <p14:sldId id="260"/>
            <p14:sldId id="261"/>
            <p14:sldId id="262"/>
          </p14:sldIdLst>
        </p14:section>
        <p14:section name="戦略" id="{7E07233F-BED9-A60B-F0D3-575217D08735}">
          <p14:sldIdLst>
            <p14:sldId id="263"/>
            <p14:sldId id="264"/>
            <p14:sldId id="265"/>
          </p14:sldIdLst>
        </p14:section>
        <p14:section name="実行" id="{99C1CC08-6BBF-D495-96E8-603D12E58D87}">
          <p14:sldIdLst>
            <p14:sldId id="266"/>
            <p14:sldId id="267"/>
            <p14:sldId id="268"/>
            <p14:sldId id="269"/>
            <p14:sldId id="270"/>
          </p14:sldIdLst>
        </p14:section>
        <p14:section name="まとめ" id="{591EEEA6-33DE-EF4A-7687-5C1EFF07B92D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51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2027年以降の事業戦略について、マーケティング部としての提案をお持ちしました。結論から申し上げると、AIで学べる時代だからこそ、「人が見守る毎日の学び」という私たちの原点を、デジタルで強くするという提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最初に結論です。3つの柱でお話しします。最後に、2027年度のパイロットについてご判断をお願いします。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数字は公開資料からの引用です。特に強調したいのは「教育は人が行うもの」という基本姿勢です。今日の提案は、この原点を変えるものではなく、強くするためのものです。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子どもの数は確実に減ります。一方で、AIの学習手段は増え、価格競争も起きます。大事なのは、親が求めているのは教材だけではなく、毎日続く習慣と見守りではないか、という仮説です。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今後いちばん手強いのは、同業他社よりも、安くて便利なAI学習アプリかもしれません。だからこそ、教室に通う理由をはっきり言葉にする必要があります。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ここは仮説です。断定せず、来年度上期にインタビューと調査で確かめます。この仮説が正しければ、私たちの価値は教材だけでなく、人の見守りにあります。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弱みは私の仮説を含みます。特に教室運営の負担と担い手の確保は、指導者の皆さまに直接お聞きして確かめたい点です。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アプリは個別最適が得意ですが、人の見守りはありません。個別指導塾は人の関与が高い一方、価格が高くなりがちです。私たちは、ちょうどの教材による個別最適と、指導者の見守りを、手の届く形で両立できる唯一の存在を目指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一番お伝えしたいのは、デジタル化の目的は人を減らすことではなく、人が子どもと向き合う時間を増やすことだという点です。紙とデジタルは選択制にし、現場に一律の変更は求めません。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子どもの数が減る中では、一人ひとりとの関係を長く続けることが成長の鍵です。AI時代に選ばれる理由は、広告のコピーではなく、指導者や保護者の生の声という一次情報で伝えます。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この戦略は、現場の皆さまの納得がなければ成功しません。誰にとって何が良くなるのかを、具体的にお示しします。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現場から出てきそうな不安に、先にお答えしておきます。特に「指導者は不要になるのか」という問いには、はっきりと「なりません」とお伝えしたいと考えています。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一気に変えるのではなく、希望する教室で小さく試し、効果と負担を確かめてから広げます。KPIを満たさなければ、拡大しない判断もします。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KPIの目標値は、今日はあえて置いていません。現状を測らずに数字を置くと、根拠のない目標になってしまうからです。まず測り、そのうえで目標をご提案します。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リスクにも先回りします。特に、調査の結果、仮説が外れた場合は、柱そのものを見直す前提で進めます。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本日は3点のご判断をお願いします。最後にもう一度。AIで学べる時代だからこそ、人が見守る学びの価値は高まると考えています。ありがとうございました。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出典の一覧です。仮説と事実を分けて示しています。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2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91640"/>
            <a:ext cx="10972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1206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</a:rPr>
              <a:t>MARKETING STRATEGY PROPOSAL 2027–2030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91640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AIの時代に、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「人が見守る、毎日の学び」で選ばれ続ける</a:t>
            </a: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KUMON 2027年以降の事業戦略（マーケティング部からの提案）</a:t>
            </a:r>
            <a:endParaRPr lang="en-US" sz="2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5120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本資料は、マーケティング講座の演習として作成した学習用の架空の提案です。株式会社公文教育研究会の公式資料・公式見解ではありません。公開情報は出典を明記し、それ以外の分析は「仮説」として示し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結論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本日お伝えしたいこと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意思決定のお願い：2027年度のパイロット予算と、指導者代表を含む推進体制の承認</a:t>
            </a:r>
            <a:endParaRPr lang="en-US" sz="1000" dirty="0"/>
          </a:p>
        </p:txBody>
      </p:sp>
      <p:sp>
        <p:nvSpPr>
          <p:cNvPr id="5" name="banner"/>
          <p:cNvSpPr/>
          <p:nvPr/>
        </p:nvSpPr>
        <p:spPr>
          <a:xfrm>
            <a:off x="548640" y="160020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600200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デジタル・AIは指導者の代わりではなく、「子どもと向き合う時間」を生む道具にする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これが、競合のAI学習アプリにはまねできない、KUMONの勝ち筋です。</a:t>
            </a:r>
            <a:endParaRPr lang="en-US" sz="1800" dirty="0"/>
          </a:p>
        </p:txBody>
      </p:sp>
      <p:sp>
        <p:nvSpPr>
          <p:cNvPr id="7" name="card 人 × デジタルの教室"/>
          <p:cNvSpPr/>
          <p:nvPr/>
        </p:nvSpPr>
        <p:spPr>
          <a:xfrm>
            <a:off x="548640" y="29718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num 1"/>
          <p:cNvSpPr/>
          <p:nvPr/>
        </p:nvSpPr>
        <p:spPr>
          <a:xfrm>
            <a:off x="777240" y="317296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315468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人 × デジタルの教室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74904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採点・記録・報告をデジタルで軽くし、浮いた時間を子どもとの対話へ。</a:t>
            </a:r>
            <a:endParaRPr lang="en-US" sz="1600" dirty="0"/>
          </a:p>
        </p:txBody>
      </p:sp>
      <p:sp>
        <p:nvSpPr>
          <p:cNvPr id="12" name="card 関係を長く、深く"/>
          <p:cNvSpPr/>
          <p:nvPr/>
        </p:nvSpPr>
        <p:spPr>
          <a:xfrm>
            <a:off x="4353458" y="29718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num 2"/>
          <p:cNvSpPr/>
          <p:nvPr/>
        </p:nvSpPr>
        <p:spPr>
          <a:xfrm>
            <a:off x="4582058" y="317296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4582058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58130" y="315468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関係を長く、深く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09490" y="374904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幼児から大人まで。子どもの数ではなく、一人ひとりとの関係の長さで伸びる事業へ。</a:t>
            </a:r>
            <a:endParaRPr lang="en-US" sz="1600" dirty="0"/>
          </a:p>
        </p:txBody>
      </p:sp>
      <p:sp>
        <p:nvSpPr>
          <p:cNvPr id="17" name="card 選ばれる理由を伝える"/>
          <p:cNvSpPr/>
          <p:nvPr/>
        </p:nvSpPr>
        <p:spPr>
          <a:xfrm>
            <a:off x="8158277" y="29718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num 3"/>
          <p:cNvSpPr/>
          <p:nvPr/>
        </p:nvSpPr>
        <p:spPr>
          <a:xfrm>
            <a:off x="8386877" y="317296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8386877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962949" y="315468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選ばれる理由を伝える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14309" y="3749040"/>
            <a:ext cx="30275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「AI時代になぜ教室か」に、指導者の声と学習データという一次情報で答える。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現在地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60年以上の「個人別学習」と、世界に広がる教室網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出典：公文教育研究会「The Horizontal Development of Japanese-Style Education in Africa」（文部科学省 EDU-Port シンポジウム資料, 2026年2月）</a:t>
            </a:r>
            <a:endParaRPr lang="en-US" sz="1000" dirty="0"/>
          </a:p>
        </p:txBody>
      </p:sp>
      <p:sp>
        <p:nvSpPr>
          <p:cNvPr id="5" name="stat 全世界の学習者数"/>
          <p:cNvSpPr/>
          <p:nvPr/>
        </p:nvSpPr>
        <p:spPr>
          <a:xfrm>
            <a:off x="548640" y="1737360"/>
            <a:ext cx="348477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358</a:t>
            </a:r>
            <a:r>
              <a:rPr lang="en-US" sz="2000" b="1" dirty="0">
                <a:solidFill>
                  <a:schemeClr val="accent1"/>
                </a:solidFill>
              </a:rPr>
              <a:t> 万教科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全世界の学習者数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受講教科数。2025年9月現在、60を超える国と地域</a:t>
            </a:r>
            <a:endParaRPr lang="en-US" sz="1200" dirty="0"/>
          </a:p>
        </p:txBody>
      </p:sp>
      <p:sp>
        <p:nvSpPr>
          <p:cNvPr id="9" name="tag 公開情報"/>
          <p:cNvSpPr/>
          <p:nvPr/>
        </p:nvSpPr>
        <p:spPr>
          <a:xfrm>
            <a:off x="2844698" y="196596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2844698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公開情報</a:t>
            </a:r>
            <a:endParaRPr lang="en-US" sz="1000" dirty="0"/>
          </a:p>
        </p:txBody>
      </p:sp>
      <p:sp>
        <p:nvSpPr>
          <p:cNvPr id="11" name="stat 連結売上高"/>
          <p:cNvSpPr/>
          <p:nvPr/>
        </p:nvSpPr>
        <p:spPr>
          <a:xfrm>
            <a:off x="4353458" y="1737360"/>
            <a:ext cx="348477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27778" y="19659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940</a:t>
            </a:r>
            <a:r>
              <a:rPr lang="en-US" sz="2000" b="1" dirty="0">
                <a:solidFill>
                  <a:schemeClr val="accent1"/>
                </a:solidFill>
              </a:rPr>
              <a:t> 億円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97180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連結売上高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342900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2025年3月現在。連結経常利益は約167億円</a:t>
            </a:r>
            <a:endParaRPr lang="en-US" sz="1200" dirty="0"/>
          </a:p>
        </p:txBody>
      </p:sp>
      <p:sp>
        <p:nvSpPr>
          <p:cNvPr id="15" name="tag 公開情報"/>
          <p:cNvSpPr/>
          <p:nvPr/>
        </p:nvSpPr>
        <p:spPr>
          <a:xfrm>
            <a:off x="6649517" y="196596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6649517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公開情報</a:t>
            </a:r>
            <a:endParaRPr lang="en-US" sz="1000" dirty="0"/>
          </a:p>
        </p:txBody>
      </p:sp>
      <p:sp>
        <p:nvSpPr>
          <p:cNvPr id="17" name="stat 大阪で創業"/>
          <p:cNvSpPr/>
          <p:nvPr/>
        </p:nvSpPr>
        <p:spPr>
          <a:xfrm>
            <a:off x="8158277" y="1737360"/>
            <a:ext cx="348477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8432597" y="196596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1958</a:t>
            </a:r>
            <a:r>
              <a:rPr lang="en-US" sz="2000" b="1" dirty="0">
                <a:solidFill>
                  <a:schemeClr val="accent1"/>
                </a:solidFill>
              </a:rPr>
              <a:t> 年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8432597" y="297180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大阪で創業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32597" y="3429000"/>
            <a:ext cx="29361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1954年、高校の数学教師・公文公が息子のために教材を作ったことが原点</a:t>
            </a:r>
            <a:endParaRPr lang="en-US" sz="1200" dirty="0"/>
          </a:p>
        </p:txBody>
      </p:sp>
      <p:sp>
        <p:nvSpPr>
          <p:cNvPr id="21" name="tag 公開情報"/>
          <p:cNvSpPr/>
          <p:nvPr/>
        </p:nvSpPr>
        <p:spPr>
          <a:xfrm>
            <a:off x="10454335" y="1965960"/>
            <a:ext cx="96012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454335" y="19659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公開情報</a:t>
            </a:r>
            <a:endParaRPr lang="en-US" sz="1000" dirty="0"/>
          </a:p>
        </p:txBody>
      </p:sp>
      <p:sp>
        <p:nvSpPr>
          <p:cNvPr id="23" name="banner"/>
          <p:cNvSpPr/>
          <p:nvPr/>
        </p:nvSpPr>
        <p:spPr>
          <a:xfrm>
            <a:off x="548640" y="470916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4709160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公文のデジタル化の基本姿勢は「教育は人が行うもの」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教材・指導法・研修・サポート・システムを一体で提供している（EDU-Port シンポジウム発表資料, 2026年2月）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外部環境（PEST）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子どもは減り、AIの学習手段は増える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出典：厚生労働省「令和6年（2024）人口動態統計（確定数）の概況」　※［仮説］は今後データで検証</a:t>
            </a:r>
            <a:endParaRPr lang="en-US" sz="1000" dirty="0"/>
          </a:p>
        </p:txBody>
      </p:sp>
      <p:sp>
        <p:nvSpPr>
          <p:cNvPr id="5" name="card Society 社会"/>
          <p:cNvSpPr/>
          <p:nvPr/>
        </p:nvSpPr>
        <p:spPr>
          <a:xfrm>
            <a:off x="548640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num S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Society 社会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2024年の出生数は68万6,173人で過去最少（9年連続減少）、合計特殊出生率1.15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共働き世帯の増加で、家で勉強を見る時間が足りない［仮説］</a:t>
            </a:r>
            <a:endParaRPr lang="en-US" sz="1500" dirty="0"/>
          </a:p>
        </p:txBody>
      </p:sp>
      <p:sp>
        <p:nvSpPr>
          <p:cNvPr id="10" name="card Technology 技術"/>
          <p:cNvSpPr/>
          <p:nvPr/>
        </p:nvSpPr>
        <p:spPr>
          <a:xfrm>
            <a:off x="6255868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num T"/>
          <p:cNvSpPr/>
          <p:nvPr/>
        </p:nvSpPr>
        <p:spPr>
          <a:xfrm>
            <a:off x="6484468" y="19385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84468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60540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Technology 技術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11900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生成AIの家庭教師アプリ、タブレット学習が身近に［仮説］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学校では1人1台端末が前提に</a:t>
            </a:r>
            <a:endParaRPr lang="en-US" sz="1500" dirty="0"/>
          </a:p>
        </p:txBody>
      </p:sp>
      <p:sp>
        <p:nvSpPr>
          <p:cNvPr id="15" name="card Economy 経済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num E"/>
          <p:cNvSpPr/>
          <p:nvPr/>
        </p:nvSpPr>
        <p:spPr>
          <a:xfrm>
            <a:off x="777240" y="436168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4340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Economy 経済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物価上昇で、家計は習い事を「選別」する［仮説］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低価格のアプリと比べられる場面が増える</a:t>
            </a:r>
            <a:endParaRPr lang="en-US" sz="1500" dirty="0"/>
          </a:p>
        </p:txBody>
      </p:sp>
      <p:sp>
        <p:nvSpPr>
          <p:cNvPr id="20" name="card Politics 政策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num P"/>
          <p:cNvSpPr/>
          <p:nvPr/>
        </p:nvSpPr>
        <p:spPr>
          <a:xfrm>
            <a:off x="6484468" y="436168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6484468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60540" y="434340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Politics 政策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11900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教育のデジタル化、個別最適な学びの推進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途上国の基礎学力向上で、官民連携の機会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競合の再定義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保護者のジョブで見ると、AIアプリも親自身も競合になる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分析：マーケティング部（ジョブ理論による整理）</a:t>
            </a:r>
            <a:endParaRPr lang="en-US" sz="1000" dirty="0"/>
          </a:p>
        </p:txBody>
      </p:sp>
      <p:sp>
        <p:nvSpPr>
          <p:cNvPr id="5" name="card 業界で見る"/>
          <p:cNvSpPr/>
          <p:nvPr/>
        </p:nvSpPr>
        <p:spPr>
          <a:xfrm>
            <a:off x="548640" y="1737360"/>
            <a:ext cx="348477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num 1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業界で見る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1460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同じタイプの教室型学習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個別指導塾・集団塾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通信教育・タブレット学習</a:t>
            </a:r>
            <a:endParaRPr lang="en-US" sz="1500" dirty="0"/>
          </a:p>
        </p:txBody>
      </p:sp>
      <p:sp>
        <p:nvSpPr>
          <p:cNvPr id="10" name="card ジョブで見る"/>
          <p:cNvSpPr/>
          <p:nvPr/>
        </p:nvSpPr>
        <p:spPr>
          <a:xfrm>
            <a:off x="4353458" y="1737360"/>
            <a:ext cx="348477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num 2"/>
          <p:cNvSpPr/>
          <p:nvPr/>
        </p:nvSpPr>
        <p:spPr>
          <a:xfrm>
            <a:off x="4582058" y="193852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82058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58130" y="192024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ジョブで見る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09490" y="251460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「毎日勉強する習慣をつけたい」を片付ける手段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生成AIの家庭教師アプリ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市販ドリル・学習動画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親が自分で教える</a:t>
            </a:r>
            <a:endParaRPr lang="en-US" sz="1500" dirty="0"/>
          </a:p>
        </p:txBody>
      </p:sp>
      <p:sp>
        <p:nvSpPr>
          <p:cNvPr id="15" name="card 時間とお金で見る"/>
          <p:cNvSpPr/>
          <p:nvPr/>
        </p:nvSpPr>
        <p:spPr>
          <a:xfrm>
            <a:off x="8158277" y="1737360"/>
            <a:ext cx="3484778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num 3"/>
          <p:cNvSpPr/>
          <p:nvPr/>
        </p:nvSpPr>
        <p:spPr>
          <a:xfrm>
            <a:off x="8386877" y="193852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8386877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62949" y="192024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時間とお金で見る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14309" y="2514600"/>
            <a:ext cx="302757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スイミング・英会話・プログラミングなど他の習い事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ゲーム・動画</a:t>
            </a:r>
            <a:endParaRPr lang="en-US" sz="1500" dirty="0"/>
          </a:p>
        </p:txBody>
      </p:sp>
      <p:sp>
        <p:nvSpPr>
          <p:cNvPr id="20" name="banner"/>
          <p:cNvSpPr/>
          <p:nvPr/>
        </p:nvSpPr>
        <p:spPr>
          <a:xfrm>
            <a:off x="548640" y="470916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47091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問い：AIアプリが安く手に入る時代に、保護者が「教室に通わせる理由」は何か？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顧客インサイト［仮説］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本当に求められているのは「毎日、見守ってくれる人」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分析：マーケティング部　※インサイトは仮説。インタビューと定量調査で検証してから施策に反映</a:t>
            </a:r>
            <a:endParaRPr lang="en-US" sz="1000" dirty="0"/>
          </a:p>
        </p:txBody>
      </p:sp>
      <p:sp>
        <p:nvSpPr>
          <p:cNvPr id="5" name="card 保護者のインサイト"/>
          <p:cNvSpPr/>
          <p:nvPr/>
        </p:nvSpPr>
        <p:spPr>
          <a:xfrm>
            <a:off x="548640" y="1737360"/>
            <a:ext cx="538718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920240"/>
            <a:ext cx="4902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保護者のインサイト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9299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状況：共働きで、平日の夜は家事に追われる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欲求：子どもに、毎日少しずつ学ぶ習慣をつけたい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葛藤：でも、毎日付き合う時間も余裕もなく、つい叱ってしまう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本音：自分の代わりに毎日見守り、「できた」を一緒に喜んでくれる人がほしい</a:t>
            </a:r>
            <a:endParaRPr lang="en-US" sz="1500" dirty="0"/>
          </a:p>
        </p:txBody>
      </p:sp>
      <p:sp>
        <p:nvSpPr>
          <p:cNvPr id="8" name="card 子どものインサイト"/>
          <p:cNvSpPr/>
          <p:nvPr/>
        </p:nvSpPr>
        <p:spPr>
          <a:xfrm>
            <a:off x="6255868" y="1737360"/>
            <a:ext cx="538718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511900" y="1920240"/>
            <a:ext cx="4902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子どものインサイト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11900" y="2514600"/>
            <a:ext cx="49299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欲求：「できた！」がうれしい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葛藤：でも、難しすぎると嫌になり、簡単すぎるとつまらない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本音：ちょうどいい問題と、自分の成長に気づいてくれる人がいると続けられる</a:t>
            </a:r>
            <a:endParaRPr lang="en-US" sz="1500" dirty="0"/>
          </a:p>
        </p:txBody>
      </p:sp>
      <p:sp>
        <p:nvSpPr>
          <p:cNvPr id="11" name="banner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493776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検証：2027年度上期に、N1インタビュー（各20名程度）と継続者・退会者アンケートで確かめる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SWOT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「ちょうどの教材 × 人の見守り」で機会をつかむ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※ 弱みは社内データと現場ヒアリングで要確認</a:t>
            </a:r>
            <a:endParaRPr lang="en-US" sz="1000" dirty="0"/>
          </a:p>
        </p:txBody>
      </p:sp>
      <p:sp>
        <p:nvSpPr>
          <p:cNvPr id="5" name="card S 強み"/>
          <p:cNvSpPr/>
          <p:nvPr/>
        </p:nvSpPr>
        <p:spPr>
          <a:xfrm>
            <a:off x="548640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num S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 強み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60年以上磨いた「ちょうど」の個人別教材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指導者が一人ひとりを見る仕組み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国内外の教室網と学習データの蓄積</a:t>
            </a:r>
            <a:endParaRPr lang="en-US" sz="1500" dirty="0"/>
          </a:p>
        </p:txBody>
      </p:sp>
      <p:sp>
        <p:nvSpPr>
          <p:cNvPr id="10" name="card W 弱み［仮説］"/>
          <p:cNvSpPr/>
          <p:nvPr/>
        </p:nvSpPr>
        <p:spPr>
          <a:xfrm>
            <a:off x="6255868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num W"/>
          <p:cNvSpPr/>
          <p:nvPr/>
        </p:nvSpPr>
        <p:spPr>
          <a:xfrm>
            <a:off x="6484468" y="193852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84468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60540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W 弱み［仮説］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11900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「プリントの反復」という古いイメージ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採点・記録など教室運営の負担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指導者の担い手確保</a:t>
            </a:r>
            <a:endParaRPr lang="en-US" sz="1500" dirty="0"/>
          </a:p>
        </p:txBody>
      </p:sp>
      <p:sp>
        <p:nvSpPr>
          <p:cNvPr id="15" name="card O 機会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num O"/>
          <p:cNvSpPr/>
          <p:nvPr/>
        </p:nvSpPr>
        <p:spPr>
          <a:xfrm>
            <a:off x="777240" y="436168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4340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 機会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共働き家庭の「見守り」需要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AI・データによる個別最適化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大人・シニアの学び直し、海外の公教育連携</a:t>
            </a:r>
            <a:endParaRPr lang="en-US" sz="1500" dirty="0"/>
          </a:p>
        </p:txBody>
      </p:sp>
      <p:sp>
        <p:nvSpPr>
          <p:cNvPr id="20" name="card T 脅威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num T"/>
          <p:cNvSpPr/>
          <p:nvPr/>
        </p:nvSpPr>
        <p:spPr>
          <a:xfrm>
            <a:off x="6484468" y="4361688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6484468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60540" y="434340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 脅威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11900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少子化による対象人口の減少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低価格のAI学習アプリ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習い事の選択肢の増加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ポジショニング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「個別最適」と「人の見守り」を両立する、唯一の存在へ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※ 各社の配置はマーケティング部の仮説（今後、顧客調査で検証）</a:t>
            </a:r>
            <a:endParaRPr lang="en-US" sz="1000" dirty="0"/>
          </a:p>
        </p:txBody>
      </p:sp>
      <p:sp>
        <p:nvSpPr>
          <p:cNvPr id="5" name="map area"/>
          <p:cNvSpPr/>
          <p:nvPr/>
        </p:nvSpPr>
        <p:spPr>
          <a:xfrm>
            <a:off x="548640" y="1691640"/>
            <a:ext cx="11094415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v axis"/>
          <p:cNvSpPr/>
          <p:nvPr/>
        </p:nvSpPr>
        <p:spPr>
          <a:xfrm>
            <a:off x="6095848" y="2057400"/>
            <a:ext cx="0" cy="3703320"/>
          </a:xfrm>
          <a:prstGeom prst="line">
            <a:avLst/>
          </a:prstGeom>
          <a:noFill/>
          <a:ln w="12700">
            <a:solidFill>
              <a:srgbClr val="9AA6B2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h axis"/>
          <p:cNvSpPr/>
          <p:nvPr/>
        </p:nvSpPr>
        <p:spPr>
          <a:xfrm>
            <a:off x="914400" y="3909060"/>
            <a:ext cx="10362895" cy="0"/>
          </a:xfrm>
          <a:prstGeom prst="line">
            <a:avLst/>
          </a:prstGeom>
          <a:noFill/>
          <a:ln w="12700">
            <a:solidFill>
              <a:srgbClr val="9AA6B2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4724248" y="1764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人の見守り・関与　高い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24248" y="5779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人の見守り・関与　低い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798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4"/>
                </a:solidFill>
              </a:rPr>
              <a:t>一斉・画一的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631375" y="35798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chemeClr val="accent4"/>
                </a:solidFill>
              </a:rPr>
              <a:t>一人ひとりに最適</a:t>
            </a:r>
            <a:endParaRPr lang="en-US" sz="1100" dirty="0"/>
          </a:p>
        </p:txBody>
      </p:sp>
      <p:sp>
        <p:nvSpPr>
          <p:cNvPr id="12" name="pos 集団塾"/>
          <p:cNvSpPr/>
          <p:nvPr/>
        </p:nvSpPr>
        <p:spPr>
          <a:xfrm>
            <a:off x="2557796" y="2660447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C7CE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2557796" y="266044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集団塾</a:t>
            </a:r>
            <a:endParaRPr lang="en-US" sz="1300" dirty="0"/>
          </a:p>
        </p:txBody>
      </p:sp>
      <p:sp>
        <p:nvSpPr>
          <p:cNvPr id="14" name="pos 個別指導塾（高価格）"/>
          <p:cNvSpPr/>
          <p:nvPr/>
        </p:nvSpPr>
        <p:spPr>
          <a:xfrm>
            <a:off x="6329897" y="3059582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C7CE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329897" y="305958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個別指導塾（高価格）</a:t>
            </a:r>
            <a:endParaRPr lang="en-US" sz="1300" dirty="0"/>
          </a:p>
        </p:txBody>
      </p:sp>
      <p:sp>
        <p:nvSpPr>
          <p:cNvPr id="16" name="pos AI学習アプリ"/>
          <p:cNvSpPr/>
          <p:nvPr/>
        </p:nvSpPr>
        <p:spPr>
          <a:xfrm>
            <a:off x="8326892" y="4877867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C7CE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8326892" y="487786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AI学習アプリ</a:t>
            </a:r>
            <a:endParaRPr lang="en-US" sz="1300" dirty="0"/>
          </a:p>
        </p:txBody>
      </p:sp>
      <p:sp>
        <p:nvSpPr>
          <p:cNvPr id="18" name="pos 市販ドリル"/>
          <p:cNvSpPr/>
          <p:nvPr/>
        </p:nvSpPr>
        <p:spPr>
          <a:xfrm>
            <a:off x="2335908" y="4789170"/>
            <a:ext cx="2194560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rgbClr val="C7CED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2335908" y="478917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市販ドリル</a:t>
            </a:r>
            <a:endParaRPr lang="en-US" sz="1300" dirty="0"/>
          </a:p>
        </p:txBody>
      </p:sp>
      <p:sp>
        <p:nvSpPr>
          <p:cNvPr id="20" name="pos KUMON（2030年の姿）"/>
          <p:cNvSpPr/>
          <p:nvPr/>
        </p:nvSpPr>
        <p:spPr>
          <a:xfrm>
            <a:off x="8189732" y="2216963"/>
            <a:ext cx="246888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8189732" y="2216963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KUMON（2030年の姿）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戦略の柱 ①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人 × デジタルの教室：「指導者の時間」を生み出す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出典：Kumon UK「Kumon launch new digital tablet study service, KUMON CONNECT」ほか</a:t>
            </a:r>
            <a:endParaRPr lang="en-US" sz="1000" dirty="0"/>
          </a:p>
        </p:txBody>
      </p:sp>
      <p:sp>
        <p:nvSpPr>
          <p:cNvPr id="5" name="card 今"/>
          <p:cNvSpPr/>
          <p:nvPr/>
        </p:nvSpPr>
        <p:spPr>
          <a:xfrm>
            <a:off x="548640" y="1737360"/>
            <a:ext cx="32461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92024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今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採点・記録・教材準備に多くの時間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保護者への報告は口頭や紙</a:t>
            </a:r>
            <a:endParaRPr lang="en-US" sz="1500" dirty="0"/>
          </a:p>
        </p:txBody>
      </p:sp>
      <p:sp>
        <p:nvSpPr>
          <p:cNvPr id="8" name="card デジタルが担う"/>
          <p:cNvSpPr/>
          <p:nvPr/>
        </p:nvSpPr>
        <p:spPr>
          <a:xfrm>
            <a:off x="4389120" y="173736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4645152" y="192024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デジタルが担う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45152" y="25146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採点・記録・進度管理の自動化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学習データから「つまずきの兆し」を通知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保護者アプリで日々の成長を共有</a:t>
            </a:r>
            <a:endParaRPr lang="en-US" sz="1500" dirty="0"/>
          </a:p>
        </p:txBody>
      </p:sp>
      <p:sp>
        <p:nvSpPr>
          <p:cNvPr id="11" name="card 指導者が増やせる時間"/>
          <p:cNvSpPr/>
          <p:nvPr/>
        </p:nvSpPr>
        <p:spPr>
          <a:xfrm>
            <a:off x="8549640" y="1737360"/>
            <a:ext cx="3246120" cy="2468880"/>
          </a:xfrm>
          <a:prstGeom prst="roundRect">
            <a:avLst>
              <a:gd name="adj" fmla="val 444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8805672" y="192024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指導者が増やせる時間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805672" y="25146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子ども一人ひとりとの対話と声かけ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「できた」を一緒に喜ぶ時間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保護者との相談</a:t>
            </a:r>
            <a:endParaRPr lang="en-US" sz="1500" dirty="0"/>
          </a:p>
        </p:txBody>
      </p:sp>
      <p:sp>
        <p:nvSpPr>
          <p:cNvPr id="14" name="arrow"/>
          <p:cNvSpPr/>
          <p:nvPr/>
        </p:nvSpPr>
        <p:spPr>
          <a:xfrm>
            <a:off x="3886200" y="2743200"/>
            <a:ext cx="411480" cy="45720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arrow"/>
          <p:cNvSpPr/>
          <p:nvPr/>
        </p:nvSpPr>
        <p:spPr>
          <a:xfrm>
            <a:off x="8046720" y="2743200"/>
            <a:ext cx="411480" cy="457200"/>
          </a:xfrm>
          <a:prstGeom prst="righ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389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海外で展開しているKUMON CONNECT（指導者が解答過程を再生して確認、保護者が進捗を確認など）の知見を活用</a:t>
            </a:r>
            <a:endParaRPr lang="en-US" sz="1200" dirty="0"/>
          </a:p>
        </p:txBody>
      </p:sp>
      <p:sp>
        <p:nvSpPr>
          <p:cNvPr id="17" name="banner"/>
          <p:cNvSpPr/>
          <p:nvPr/>
        </p:nvSpPr>
        <p:spPr>
          <a:xfrm>
            <a:off x="548640" y="498348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498348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紙とデジタルは、教室と家庭が選べる形に。一律の切り替えはしない。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戦略の柱 ② ③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「関係の長さ」で伸ばし、選ばれる理由を一次情報で伝える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※ 海外のパートナー連携の事例：バングラデシュ（BRAC）、アブダビの小学校など（EDU-Port シンポジウム資料）</a:t>
            </a:r>
            <a:endParaRPr lang="en-US" sz="1000" dirty="0"/>
          </a:p>
        </p:txBody>
      </p:sp>
      <p:sp>
        <p:nvSpPr>
          <p:cNvPr id="5" name="card 関係を長く、深く（LTV）"/>
          <p:cNvSpPr/>
          <p:nvPr/>
        </p:nvSpPr>
        <p:spPr>
          <a:xfrm>
            <a:off x="548640" y="1737360"/>
            <a:ext cx="5387188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num 2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関係を長く、深く（LTV）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14600"/>
            <a:ext cx="49299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幼児期の入会から小中学生の継続へ。学年が上がっても続く理由をつくる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保護者へ「成長の見える化」で、継続の納得感を高める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大人・シニアの学び直しを、地域の教室の新しい柱に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海外は、学校・行政・NGOとのパートナー連携を拡大</a:t>
            </a:r>
            <a:endParaRPr lang="en-US" sz="1500" dirty="0"/>
          </a:p>
        </p:txBody>
      </p:sp>
      <p:sp>
        <p:nvSpPr>
          <p:cNvPr id="10" name="card 選ばれる理由を伝える（AIO・一次情報）"/>
          <p:cNvSpPr/>
          <p:nvPr/>
        </p:nvSpPr>
        <p:spPr>
          <a:xfrm>
            <a:off x="6255868" y="1737360"/>
            <a:ext cx="5387188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num 3"/>
          <p:cNvSpPr/>
          <p:nvPr/>
        </p:nvSpPr>
        <p:spPr>
          <a:xfrm>
            <a:off x="6484468" y="193852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84468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60540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選ばれる理由を伝える（AIO・一次情報）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11900" y="2514600"/>
            <a:ext cx="49299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保護者が検索やAIに尋ねる「公文 効果」「AIアプリと教室 違い」などの問いに、正面から答えるコンテンツ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素材は一次情報：指導者の声、保護者・子どものN1インタビュー、学習データ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誇張しない。条件や例外も書く（信頼を最優先）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AIの回答での言及状況を定点観測する</a:t>
            </a:r>
            <a:endParaRPr lang="en-US" sz="1500" dirty="0"/>
          </a:p>
        </p:txBody>
      </p:sp>
      <p:sp>
        <p:nvSpPr>
          <p:cNvPr id="15" name="banner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68680" y="51206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子どもの数ではなく、一人ひとりとの「関係の長さ」と「信頼」で伸びる事業へ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ステークホルダー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それぞれにとって、何が変わるのか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※ 指導者・教室スタッフの負担と効果は、パイロットで実測して公開する</a:t>
            </a:r>
            <a:endParaRPr lang="en-US" sz="1000" dirty="0"/>
          </a:p>
        </p:txBody>
      </p:sp>
      <p:sp>
        <p:nvSpPr>
          <p:cNvPr id="5" name="card 指導者・教室スタッフ"/>
          <p:cNvSpPr/>
          <p:nvPr/>
        </p:nvSpPr>
        <p:spPr>
          <a:xfrm>
            <a:off x="548640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num 1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指導者・教室スタッフ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採点・記録・報告の負担が減る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子どもと向き合う時間が増える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導入は希望制。研修とサポート窓口を用意</a:t>
            </a:r>
            <a:endParaRPr lang="en-US" sz="1500" dirty="0"/>
          </a:p>
        </p:txBody>
      </p:sp>
      <p:sp>
        <p:nvSpPr>
          <p:cNvPr id="10" name="card 社員"/>
          <p:cNvSpPr/>
          <p:nvPr/>
        </p:nvSpPr>
        <p:spPr>
          <a:xfrm>
            <a:off x="6255868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num 2"/>
          <p:cNvSpPr/>
          <p:nvPr/>
        </p:nvSpPr>
        <p:spPr>
          <a:xfrm>
            <a:off x="6484468" y="1938528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484468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60540" y="192024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社員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11900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現場の声を起点に、施策をつくる役割へ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教室の成功事例を全国に広げる</a:t>
            </a:r>
            <a:endParaRPr lang="en-US" sz="1500" dirty="0"/>
          </a:p>
        </p:txBody>
      </p:sp>
      <p:sp>
        <p:nvSpPr>
          <p:cNvPr id="15" name="card 保護者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num 3"/>
          <p:cNvSpPr/>
          <p:nvPr/>
        </p:nvSpPr>
        <p:spPr>
          <a:xfrm>
            <a:off x="777240" y="436168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34340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保護者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日々の成長が見え、安心できる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家で叱らずに、習慣が続く</a:t>
            </a:r>
            <a:endParaRPr lang="en-US" sz="1500" dirty="0"/>
          </a:p>
        </p:txBody>
      </p:sp>
      <p:sp>
        <p:nvSpPr>
          <p:cNvPr id="20" name="card 子ども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num 4"/>
          <p:cNvSpPr/>
          <p:nvPr/>
        </p:nvSpPr>
        <p:spPr>
          <a:xfrm>
            <a:off x="6484468" y="436168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6484468" y="4361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60540" y="4343400"/>
            <a:ext cx="43539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子ども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511900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ちょうどいい問題で「できた」が続く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成長に気づいてくれる人がいる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現場の不安に、先にお答えします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よくある質問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※ パイロットに参加する指導者の声を、全国の教室に毎月共有する</a:t>
            </a:r>
            <a:endParaRPr lang="en-US" sz="1000" dirty="0"/>
          </a:p>
        </p:txBody>
      </p:sp>
      <p:sp>
        <p:nvSpPr>
          <p:cNvPr id="5" name="card Q. AIで、指導者は不要になるのでは？"/>
          <p:cNvSpPr/>
          <p:nvPr/>
        </p:nvSpPr>
        <p:spPr>
          <a:xfrm>
            <a:off x="548640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920240"/>
            <a:ext cx="4902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Q. AIで、指導者は不要になるのでは？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A. なりません。デジタルの目的は、指導者が子どもと向き合う時間を増やすことです。「教育は人が行うもの」という基本姿勢は変えません。</a:t>
            </a:r>
            <a:endParaRPr lang="en-US" sz="1500" dirty="0"/>
          </a:p>
        </p:txBody>
      </p:sp>
      <p:sp>
        <p:nvSpPr>
          <p:cNvPr id="8" name="card Q. 紙の教材はなくなるのでは？"/>
          <p:cNvSpPr/>
          <p:nvPr/>
        </p:nvSpPr>
        <p:spPr>
          <a:xfrm>
            <a:off x="6255868" y="173736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6511900" y="1920240"/>
            <a:ext cx="4902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Q. 紙の教材はなくなるのでは？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11900" y="251460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A. なくしません。紙とデジタルは、教室と家庭が選べる形にします。</a:t>
            </a:r>
            <a:endParaRPr lang="en-US" sz="1500" dirty="0"/>
          </a:p>
        </p:txBody>
      </p:sp>
      <p:sp>
        <p:nvSpPr>
          <p:cNvPr id="11" name="card Q. 新しい仕組みを覚える負担が増えるのでは？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4343400"/>
            <a:ext cx="4902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Q. 新しい仕組みを覚える負担が増えるのでは？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A. 導入は希望する教室から段階的に。研修・マニュアル・相談窓口を用意し、パイロットで負担を実測して改善します。</a:t>
            </a:r>
            <a:endParaRPr lang="en-US" sz="1500" dirty="0"/>
          </a:p>
        </p:txBody>
      </p:sp>
      <p:sp>
        <p:nvSpPr>
          <p:cNvPr id="14" name="card Q. 子どもや家庭のデータは安全？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511900" y="4343400"/>
            <a:ext cx="49025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Q. 子どもや家庭のデータは安全？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11900" y="493776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A. 個人情報の取り扱いルールを明確にし、利用目的を保護者に説明したうえで同意をいただきます。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ロードマップ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小さく試し、現場の声で磨き、広げる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※ 各段階の判断は、次ページのKPIで行う（基準を満たさなければ拡大しない）</a:t>
            </a:r>
            <a:endParaRPr lang="en-US" sz="1000" dirty="0"/>
          </a:p>
        </p:txBody>
      </p:sp>
      <p:sp>
        <p:nvSpPr>
          <p:cNvPr id="5" name="timeline"/>
          <p:cNvSpPr/>
          <p:nvPr/>
        </p:nvSpPr>
        <p:spPr>
          <a:xfrm>
            <a:off x="822960" y="2103120"/>
            <a:ext cx="10545775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milestone 2027年度"/>
          <p:cNvSpPr/>
          <p:nvPr/>
        </p:nvSpPr>
        <p:spPr>
          <a:xfrm>
            <a:off x="731520" y="190195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1234440" y="1874520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2027年度</a:t>
            </a:r>
            <a:endParaRPr lang="en-US" sz="1700" dirty="0"/>
          </a:p>
        </p:txBody>
      </p:sp>
      <p:sp>
        <p:nvSpPr>
          <p:cNvPr id="8" name="card 検証"/>
          <p:cNvSpPr/>
          <p:nvPr/>
        </p:nvSpPr>
        <p:spPr>
          <a:xfrm>
            <a:off x="548640" y="25603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2743200"/>
            <a:ext cx="208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検証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33756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インサイト調査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希望教室でパイロット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負担と効果を実測</a:t>
            </a:r>
            <a:endParaRPr lang="en-US" sz="1400" dirty="0"/>
          </a:p>
        </p:txBody>
      </p:sp>
      <p:sp>
        <p:nvSpPr>
          <p:cNvPr id="11" name="milestone 2028年度"/>
          <p:cNvSpPr/>
          <p:nvPr/>
        </p:nvSpPr>
        <p:spPr>
          <a:xfrm>
            <a:off x="3573704" y="190195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076624" y="1874520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2028年度</a:t>
            </a:r>
            <a:endParaRPr lang="en-US" sz="1700" dirty="0"/>
          </a:p>
        </p:txBody>
      </p:sp>
      <p:sp>
        <p:nvSpPr>
          <p:cNvPr id="13" name="card 改善・拡大"/>
          <p:cNvSpPr/>
          <p:nvPr/>
        </p:nvSpPr>
        <p:spPr>
          <a:xfrm>
            <a:off x="3390824" y="25603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3646856" y="2743200"/>
            <a:ext cx="208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改善・拡大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46856" y="333756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パイロットの声で改善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参加教室を段階拡大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保護者へ成長を共有</a:t>
            </a:r>
            <a:endParaRPr lang="en-US" sz="1400" dirty="0"/>
          </a:p>
        </p:txBody>
      </p:sp>
      <p:sp>
        <p:nvSpPr>
          <p:cNvPr id="16" name="milestone 2029年度"/>
          <p:cNvSpPr/>
          <p:nvPr/>
        </p:nvSpPr>
        <p:spPr>
          <a:xfrm>
            <a:off x="6415888" y="190195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6918808" y="1874520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2029年度</a:t>
            </a:r>
            <a:endParaRPr lang="en-US" sz="1700" dirty="0"/>
          </a:p>
        </p:txBody>
      </p:sp>
      <p:sp>
        <p:nvSpPr>
          <p:cNvPr id="18" name="card 標準化"/>
          <p:cNvSpPr/>
          <p:nvPr/>
        </p:nvSpPr>
        <p:spPr>
          <a:xfrm>
            <a:off x="6233008" y="25603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6489040" y="2743200"/>
            <a:ext cx="208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標準化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89040" y="333756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希望する全教室で利用可能に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大人・シニア向けの本格展開</a:t>
            </a:r>
            <a:endParaRPr lang="en-US" sz="1400" dirty="0"/>
          </a:p>
        </p:txBody>
      </p:sp>
      <p:sp>
        <p:nvSpPr>
          <p:cNvPr id="21" name="milestone 2030年度"/>
          <p:cNvSpPr/>
          <p:nvPr/>
        </p:nvSpPr>
        <p:spPr>
          <a:xfrm>
            <a:off x="9258071" y="1901952"/>
            <a:ext cx="402336" cy="40233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9760991" y="1874520"/>
            <a:ext cx="183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2030年度</a:t>
            </a:r>
            <a:endParaRPr lang="en-US" sz="1700" dirty="0"/>
          </a:p>
        </p:txBody>
      </p:sp>
      <p:sp>
        <p:nvSpPr>
          <p:cNvPr id="23" name="card 定着"/>
          <p:cNvSpPr/>
          <p:nvPr/>
        </p:nvSpPr>
        <p:spPr>
          <a:xfrm>
            <a:off x="9075191" y="2560320"/>
            <a:ext cx="2567864" cy="274320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 txBox="1"/>
          <p:nvPr/>
        </p:nvSpPr>
        <p:spPr>
          <a:xfrm>
            <a:off x="9331223" y="2743200"/>
            <a:ext cx="208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定着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331223" y="3337560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「人が見守る学び」のブランド確立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海外のパートナー連携と知見の相互共有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KPI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「入会数」だけでなく「関係の長さ」と「向き合う時間」で測る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8月までにベースラインを確定 → 下期の経営会議で目標値をご提案</a:t>
            </a:r>
            <a:endParaRPr lang="en-US" sz="1000" dirty="0"/>
          </a:p>
        </p:txBody>
      </p:sp>
      <p:sp>
        <p:nvSpPr>
          <p:cNvPr id="5" name="card 事業（KGI）"/>
          <p:cNvSpPr/>
          <p:nvPr/>
        </p:nvSpPr>
        <p:spPr>
          <a:xfrm>
            <a:off x="548640" y="1737360"/>
            <a:ext cx="3484778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num 1"/>
          <p:cNvSpPr/>
          <p:nvPr/>
        </p:nvSpPr>
        <p:spPr>
          <a:xfrm>
            <a:off x="777240" y="1938528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192024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事業（KGI）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1460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学習者の平均継続期間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学習者の生涯価値（LTV）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国内学習者数の減少幅を、対象人口の減少幅より小さく</a:t>
            </a:r>
            <a:endParaRPr lang="en-US" sz="1500" dirty="0"/>
          </a:p>
        </p:txBody>
      </p:sp>
      <p:sp>
        <p:nvSpPr>
          <p:cNvPr id="10" name="card 現場"/>
          <p:cNvSpPr/>
          <p:nvPr/>
        </p:nvSpPr>
        <p:spPr>
          <a:xfrm>
            <a:off x="4353458" y="1737360"/>
            <a:ext cx="3484778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num 2"/>
          <p:cNvSpPr/>
          <p:nvPr/>
        </p:nvSpPr>
        <p:spPr>
          <a:xfrm>
            <a:off x="4582058" y="193852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82058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58130" y="192024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現場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09490" y="251460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子どもと向き合う時間（指導者1人あたり）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採点・事務にかかる時間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指導者・スタッフの満足度</a:t>
            </a:r>
            <a:endParaRPr lang="en-US" sz="1500" dirty="0"/>
          </a:p>
        </p:txBody>
      </p:sp>
      <p:sp>
        <p:nvSpPr>
          <p:cNvPr id="15" name="card 顧客・ブランド"/>
          <p:cNvSpPr/>
          <p:nvPr/>
        </p:nvSpPr>
        <p:spPr>
          <a:xfrm>
            <a:off x="8158277" y="1737360"/>
            <a:ext cx="3484778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num 3"/>
          <p:cNvSpPr/>
          <p:nvPr/>
        </p:nvSpPr>
        <p:spPr>
          <a:xfrm>
            <a:off x="8386877" y="1938528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8386877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62949" y="1920240"/>
            <a:ext cx="2451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顧客・ブランド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14309" y="2514600"/>
            <a:ext cx="30275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保護者の満足度・推奨意向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退会理由の内訳（毎月）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検索・AIの回答での言及状況</a:t>
            </a:r>
            <a:endParaRPr lang="en-US" sz="1500" dirty="0"/>
          </a:p>
        </p:txBody>
      </p:sp>
      <p:sp>
        <p:nvSpPr>
          <p:cNvPr id="20" name="banner"/>
          <p:cNvSpPr/>
          <p:nvPr/>
        </p:nvSpPr>
        <p:spPr>
          <a:xfrm>
            <a:off x="548640" y="4800600"/>
            <a:ext cx="11094415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 txBox="1"/>
          <p:nvPr/>
        </p:nvSpPr>
        <p:spPr>
          <a:xfrm>
            <a:off x="868680" y="480060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目標値は、現状値（ベースライン）を測ってから設定する。根拠のない数字は置かない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現状値は2027年度上期の調査とパイロットで測定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リスクと対策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想定されるリスクと、先回りの対策</a:t>
            </a:r>
            <a:endParaRPr lang="en-US" sz="2800" dirty="0"/>
          </a:p>
        </p:txBody>
      </p:sp>
      <p:sp>
        <p:nvSpPr>
          <p:cNvPr id="4" name="risk 現場の負担増"/>
          <p:cNvSpPr/>
          <p:nvPr/>
        </p:nvSpPr>
        <p:spPr>
          <a:xfrm>
            <a:off x="548640" y="1783080"/>
            <a:ext cx="5387188" cy="131673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8385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現場の負担増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→ 希望制・段階導入。負担を実測し、基準を超えたら見直す</a:t>
            </a:r>
            <a:endParaRPr lang="en-US" sz="1600" dirty="0"/>
          </a:p>
        </p:txBody>
      </p:sp>
      <p:sp>
        <p:nvSpPr>
          <p:cNvPr id="6" name="risk 家庭の端末格差"/>
          <p:cNvSpPr/>
          <p:nvPr/>
        </p:nvSpPr>
        <p:spPr>
          <a:xfrm>
            <a:off x="6255868" y="1783080"/>
            <a:ext cx="5387188" cy="131673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6530188" y="1874520"/>
            <a:ext cx="48385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家庭の端末格差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→ 紙との選択制。教室での利用環境の整備を検討</a:t>
            </a:r>
            <a:endParaRPr lang="en-US" sz="1600" dirty="0"/>
          </a:p>
        </p:txBody>
      </p:sp>
      <p:sp>
        <p:nvSpPr>
          <p:cNvPr id="8" name="risk 個人情報"/>
          <p:cNvSpPr/>
          <p:nvPr/>
        </p:nvSpPr>
        <p:spPr>
          <a:xfrm>
            <a:off x="548640" y="3282696"/>
            <a:ext cx="5387188" cy="131673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3374136"/>
            <a:ext cx="48385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個人情報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→ 利用目的の説明と同意、管理ルールの整備</a:t>
            </a:r>
            <a:endParaRPr lang="en-US" sz="1600" dirty="0"/>
          </a:p>
        </p:txBody>
      </p:sp>
      <p:sp>
        <p:nvSpPr>
          <p:cNvPr id="10" name="risk ブランドの誤解（「公文もアプリになった」）"/>
          <p:cNvSpPr/>
          <p:nvPr/>
        </p:nvSpPr>
        <p:spPr>
          <a:xfrm>
            <a:off x="6255868" y="3282696"/>
            <a:ext cx="5387188" cy="131673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6530188" y="3374136"/>
            <a:ext cx="48385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ブランドの誤解（「公文もアプリになった」）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→ 伝える軸は一貫して「人が見守る学び」</a:t>
            </a:r>
            <a:endParaRPr lang="en-US" sz="1600" dirty="0"/>
          </a:p>
        </p:txBody>
      </p:sp>
      <p:sp>
        <p:nvSpPr>
          <p:cNvPr id="12" name="risk AI学習アプリとの価格競争"/>
          <p:cNvSpPr/>
          <p:nvPr/>
        </p:nvSpPr>
        <p:spPr>
          <a:xfrm>
            <a:off x="548640" y="4782312"/>
            <a:ext cx="5387188" cy="131673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4873752"/>
            <a:ext cx="48385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AI学習アプリとの価格競争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→ 価格で戦わず、見守りと継続の価値で選ばれる</a:t>
            </a:r>
            <a:endParaRPr lang="en-US" sz="1600" dirty="0"/>
          </a:p>
        </p:txBody>
      </p:sp>
      <p:sp>
        <p:nvSpPr>
          <p:cNvPr id="14" name="risk 調査で仮説が外れる"/>
          <p:cNvSpPr/>
          <p:nvPr/>
        </p:nvSpPr>
        <p:spPr>
          <a:xfrm>
            <a:off x="6255868" y="4782312"/>
            <a:ext cx="5387188" cy="1316736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530188" y="4873752"/>
            <a:ext cx="483854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調査で仮説が外れる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→ 仮説が外れたら、柱そのものを見直す</a:t>
            </a:r>
            <a:endParaRPr lang="en-US" sz="1600" dirty="0"/>
          </a:p>
        </p:txBody>
      </p:sp>
      <p:sp>
        <p:nvSpPr>
          <p:cNvPr id="17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</a:rPr>
              <a:t>お願い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691640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本日ご判断いただきたいこと</a:t>
            </a:r>
            <a:endParaRPr lang="en-US" sz="4000" dirty="0"/>
          </a:p>
        </p:txBody>
      </p:sp>
      <p:sp>
        <p:nvSpPr>
          <p:cNvPr id="4" name="ask パイロットの承認"/>
          <p:cNvSpPr/>
          <p:nvPr/>
        </p:nvSpPr>
        <p:spPr>
          <a:xfrm>
            <a:off x="548640" y="2788920"/>
            <a:ext cx="3484778" cy="2011680"/>
          </a:xfrm>
          <a:prstGeom prst="roundRect">
            <a:avLst>
              <a:gd name="adj" fmla="val 5455"/>
            </a:avLst>
          </a:prstGeom>
          <a:solidFill>
            <a:srgbClr val="17606F"/>
          </a:solidFill>
          <a:ln w="12700">
            <a:solidFill>
              <a:srgbClr val="17606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ask num"/>
          <p:cNvSpPr/>
          <p:nvPr/>
        </p:nvSpPr>
        <p:spPr>
          <a:xfrm>
            <a:off x="777240" y="30175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990088"/>
            <a:ext cx="2478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パイロットの承認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11880"/>
            <a:ext cx="2981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2027年度、希望教室でのパイロットと、インサイト調査の実施</a:t>
            </a:r>
            <a:endParaRPr lang="en-US" sz="1400" dirty="0"/>
          </a:p>
        </p:txBody>
      </p:sp>
      <p:sp>
        <p:nvSpPr>
          <p:cNvPr id="9" name="ask 推進体制"/>
          <p:cNvSpPr/>
          <p:nvPr/>
        </p:nvSpPr>
        <p:spPr>
          <a:xfrm>
            <a:off x="4353458" y="2788920"/>
            <a:ext cx="3484778" cy="2011680"/>
          </a:xfrm>
          <a:prstGeom prst="roundRect">
            <a:avLst>
              <a:gd name="adj" fmla="val 5455"/>
            </a:avLst>
          </a:prstGeom>
          <a:solidFill>
            <a:srgbClr val="17606F"/>
          </a:solidFill>
          <a:ln w="12700">
            <a:solidFill>
              <a:srgbClr val="17606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ask num"/>
          <p:cNvSpPr/>
          <p:nvPr/>
        </p:nvSpPr>
        <p:spPr>
          <a:xfrm>
            <a:off x="4582058" y="30175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4582058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58130" y="2990088"/>
            <a:ext cx="2478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推進体制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09490" y="3611880"/>
            <a:ext cx="2981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マーケティング・教室運営・システム部門に加え、指導者の代表が参加するプロジェクトチームの発足</a:t>
            </a:r>
            <a:endParaRPr lang="en-US" sz="1400" dirty="0"/>
          </a:p>
        </p:txBody>
      </p:sp>
      <p:sp>
        <p:nvSpPr>
          <p:cNvPr id="14" name="ask 評価の軸"/>
          <p:cNvSpPr/>
          <p:nvPr/>
        </p:nvSpPr>
        <p:spPr>
          <a:xfrm>
            <a:off x="8158277" y="2788920"/>
            <a:ext cx="3484778" cy="2011680"/>
          </a:xfrm>
          <a:prstGeom prst="roundRect">
            <a:avLst>
              <a:gd name="adj" fmla="val 5455"/>
            </a:avLst>
          </a:prstGeom>
          <a:solidFill>
            <a:srgbClr val="17606F"/>
          </a:solidFill>
          <a:ln w="12700">
            <a:solidFill>
              <a:srgbClr val="17606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ask num"/>
          <p:cNvSpPr/>
          <p:nvPr/>
        </p:nvSpPr>
        <p:spPr>
          <a:xfrm>
            <a:off x="8386877" y="30175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8386877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62949" y="2990088"/>
            <a:ext cx="2478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評価の軸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4309" y="3611880"/>
            <a:ext cx="2981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入会数だけでなく、継続期間・向き合う時間・保護者満足を、経営の指標に加えること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AIで学べる時代だからこそ、「人が見守る、毎日の学び」の価値は高まる。</a:t>
            </a:r>
            <a:endParaRPr lang="en-US" sz="20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私たちの原点「教育は人が行うもの」を、デジタルで、もっと強くしていきます。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chemeClr val="accent1"/>
                </a:solidFill>
              </a:rPr>
              <a:t>出典・注記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出典と、この資料の前提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6355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公開情報の確認日：2026年10月9日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公文教育研究会「The Horizontal Development of Japanese-Style Education in Africa」文部科学省 EDU-Port シンポジウム資料（2026年2月）：学習者数358万教科（2025年9月）、60を超える国と地域、連結売上高・経常利益・拠点数・従業員数（2025年3月）、創業の経緯、「教育は人が行うもの」、Kumon in School、パートナー事業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厚生労働省「令和6年（2024）人口動態統計（確定数）の概況」（2025年9月公表）：出生数68万6,173人、合計特殊出生率1.15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Kumon UK「Kumon launch new digital tablet study service, KUMON CONNECT」、Kumon（米国）「Greater Convenience, More Engagement With Kumon Connect」：KUMON CONNECTの機能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「仮説」と記した内容は、マーケティング部の分析であり、今後の調査で検証する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本資料は講座の演習として作成した学習用の架空の提案であり、株式会社公文教育研究会の公式資料・公式見解ではない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48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mon Strategy Study">
  <a:themeElements>
    <a:clrScheme name="Kumon Strategy Study">
      <a:dk1>
        <a:srgbClr val="1B2433"/>
      </a:dk1>
      <a:lt1>
        <a:srgbClr val="FFFFFF"/>
      </a:lt1>
      <a:dk2>
        <a:srgbClr val="0F4C5C"/>
      </a:dk2>
      <a:lt2>
        <a:srgbClr val="EEF4F5"/>
      </a:lt2>
      <a:accent1>
        <a:srgbClr val="0F6E78"/>
      </a:accent1>
      <a:accent2>
        <a:srgbClr val="E07A2E"/>
      </a:accent2>
      <a:accent3>
        <a:srgbClr val="2E8B57"/>
      </a:accent3>
      <a:accent4>
        <a:srgbClr val="6B7484"/>
      </a:accent4>
      <a:accent5>
        <a:srgbClr val="CFE3E6"/>
      </a:accent5>
      <a:accent6>
        <a:srgbClr val="FBE3D1"/>
      </a:accent6>
      <a:hlink>
        <a:srgbClr val="0F6E78"/>
      </a:hlink>
      <a:folHlink>
        <a:srgbClr val="6B7484"/>
      </a:folHlink>
    </a:clrScheme>
    <a:fontScheme name="Kumon Strategy Study">
      <a:majorFont>
        <a:latin typeface="Yu Gothic"/>
        <a:ea typeface="Yu Gothic"/>
        <a:cs typeface=""/>
        <a:font script="Jpan" typeface="Yu 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Yu Gothic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1443</Words>
  <Application>Microsoft Macintosh PowerPoint</Application>
  <PresentationFormat>ワイド画面</PresentationFormat>
  <Paragraphs>310</Paragraphs>
  <Slides>17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0" baseType="lpstr">
      <vt:lpstr>Yu Gothic</vt:lpstr>
      <vt:lpstr>Arial</vt:lpstr>
      <vt:lpstr>Kumon Strategy Study</vt:lpstr>
      <vt:lpstr>AIの時代に、 「人が見守る、毎日の学び」で選ばれ続ける</vt:lpstr>
      <vt:lpstr>本日お伝えしたいこと</vt:lpstr>
      <vt:lpstr>60年以上の「個人別学習」と、世界に広がる教室網</vt:lpstr>
      <vt:lpstr>子どもは減り、AIの学習手段は増える</vt:lpstr>
      <vt:lpstr>保護者のジョブで見ると、AIアプリも親自身も競合になる</vt:lpstr>
      <vt:lpstr>本当に求められているのは「毎日、見守ってくれる人」</vt:lpstr>
      <vt:lpstr>「ちょうどの教材 × 人の見守り」で機会をつかむ</vt:lpstr>
      <vt:lpstr>「個別最適」と「人の見守り」を両立する、唯一の存在へ</vt:lpstr>
      <vt:lpstr>人 × デジタルの教室：「指導者の時間」を生み出す</vt:lpstr>
      <vt:lpstr>「関係の長さ」で伸ばし、選ばれる理由を一次情報で伝える</vt:lpstr>
      <vt:lpstr>それぞれにとって、何が変わるのか</vt:lpstr>
      <vt:lpstr>よくある質問</vt:lpstr>
      <vt:lpstr>小さく試し、現場の声で磨き、広げる</vt:lpstr>
      <vt:lpstr>「入会数」だけでなく「関係の長さ」と「向き合う時間」で測る</vt:lpstr>
      <vt:lpstr>想定されるリスクと、先回りの対策</vt:lpstr>
      <vt:lpstr>本日ご判断いただきたいこと</vt:lpstr>
      <vt:lpstr>出典と、この資料の前提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KUMON 2027年以降の事業戦略（学習用の提案）</dc:title>
  <dc:subject>PptxGenJS Presentation</dc:subject>
  <dc:creator>マーケティング部（演習）</dc:creator>
  <cp:lastModifiedBy>ikenoharuhiko</cp:lastModifiedBy>
  <cp:revision>2</cp:revision>
  <dcterms:created xsi:type="dcterms:W3CDTF">2026-10-09T02:45:30Z</dcterms:created>
  <dcterms:modified xsi:type="dcterms:W3CDTF">2026-10-09T11:35:37Z</dcterms:modified>
</cp:coreProperties>
</file>